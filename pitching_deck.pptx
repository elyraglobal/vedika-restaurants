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Opening: Congratulate on new Karan Bagh store. Today we're showing you how to turn that excitement into customers—online.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website is a live demo — already built for Vedika. It's not a template, it's custom. Every menu item, every location, every message reflects Vedika's brand. The WhatsApp integration means customers don't go through Swiggy/Zomato (where you lose 20-30%). They order straight to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Tier 2 is the sweet spot for Vedika — covers the new store launch perfectly. Website + Instagram = you show up everywhere. Tier 3 is for when he wants to scale. All prices are one-time except Tier 3 retainer.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Real example: A restaurant in Jammu posted 3 momo photos last month. 24 orders from Instagram. That's ₹4,800 from 3 photos. We post 12/month = ₹19,200. The website pays for itself. For catering, one birthday party post = ₹20k order.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close. 2-month trial removes all risk — he sees real numbers before committing to ongoing management. The timing (new store opening) is the perfect hook. Offer a call to review the live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515600" cy="1097280"/>
          </a:xfrm>
          <a:prstGeom prst="rect">
            <a:avLst/>
          </a:prstGeom>
          <a:noFill/>
        </p:spPr>
        <p:txBody>
          <a:bodyPr wrap="square" bIns="91440" tIns="91440">
            <a:spAutoFit/>
          </a:bodyPr>
          <a:lstStyle/>
          <a:p>
            <a:pPr algn="l"/>
            <a:r>
              <a:rPr sz="5200" b="1">
                <a:solidFill>
                  <a:srgbClr val="FFFFFF"/>
                </a:solidFill>
                <a:latin typeface="Georgia"/>
              </a:rPr>
              <a:t>Vedika Sweets &amp; Restaurant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10515600" cy="731520"/>
          </a:xfrm>
          <a:prstGeom prst="rect">
            <a:avLst/>
          </a:prstGeom>
          <a:noFill/>
        </p:spPr>
        <p:txBody>
          <a:bodyPr wrap="square" bIns="91440" tIns="91440">
            <a:spAutoFit/>
          </a:bodyPr>
          <a:lstStyle/>
          <a:p>
            <a:pPr algn="l"/>
            <a:r>
              <a:rPr sz="2800" b="0">
                <a:solidFill>
                  <a:srgbClr val="FFFFFF"/>
                </a:solidFill>
                <a:latin typeface="Calibri"/>
              </a:rPr>
              <a:t>Your Digital Transformation Package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754880"/>
            <a:ext cx="10515600" cy="1097280"/>
          </a:xfrm>
          <a:prstGeom prst="rect">
            <a:avLst/>
          </a:prstGeom>
          <a:noFill/>
        </p:spPr>
        <p:txBody>
          <a:bodyPr wrap="square" bIns="91440" tIns="91440">
            <a:spAutoFit/>
          </a:bodyPr>
          <a:lstStyle/>
          <a:p>
            <a:pPr algn="ctr"/>
            <a:r>
              <a:rPr sz="2000" b="0">
                <a:solidFill>
                  <a:srgbClr val="2C2C2C"/>
                </a:solidFill>
                <a:latin typeface="Calibri"/>
              </a:rPr>
              <a:t>Website • Instagram • Social Media Management
Launch your new store with a complete online presence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 bIns="91440" tIns="91440">
            <a:spAutoFit/>
          </a:bodyPr>
          <a:lstStyle/>
          <a:p>
            <a:pPr algn="l"/>
            <a:r>
              <a:rPr sz="4000" b="1">
                <a:solidFill>
                  <a:srgbClr val="1C3144"/>
                </a:solidFill>
                <a:latin typeface="Georgia"/>
              </a:rPr>
              <a:t>What Vedika Gets — Complete Website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25880"/>
            <a:ext cx="2926080" cy="5486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200">
                <a:solidFill>
                  <a:srgbClr val="2C2C2C"/>
                </a:solidFill>
                <a:latin typeface="Calibri"/>
              </a:rPr>
              <a:t>✓ Professional website (both Miran Sahib &amp; Karan Bagh branches, full menu, pricing)</a:t>
            </a:r>
          </a:p>
          <a:p>
            <a:pPr>
              <a:spcAft>
                <a:spcPts val="1600"/>
              </a:spcAft>
            </a:pPr>
            <a:r>
              <a:rPr sz="2200">
                <a:solidFill>
                  <a:srgbClr val="2C2C2C"/>
                </a:solidFill>
                <a:latin typeface="Calibri"/>
              </a:rPr>
              <a:t>✓ WhatsApp order integration — customers order directly, you keep 100% of the money</a:t>
            </a:r>
          </a:p>
          <a:p>
            <a:pPr>
              <a:spcAft>
                <a:spcPts val="1600"/>
              </a:spcAft>
            </a:pPr>
            <a:r>
              <a:rPr sz="2200">
                <a:solidFill>
                  <a:srgbClr val="2C2C2C"/>
                </a:solidFill>
                <a:latin typeface="Calibri"/>
              </a:rPr>
              <a:t>✓ Photo gallery, events/catering showcase, customer testimonials</a:t>
            </a:r>
          </a:p>
          <a:p>
            <a:pPr>
              <a:spcAft>
                <a:spcPts val="1600"/>
              </a:spcAft>
            </a:pPr>
            <a:r>
              <a:rPr sz="2200">
                <a:solidFill>
                  <a:srgbClr val="2C2C2C"/>
                </a:solidFill>
                <a:latin typeface="Calibri"/>
              </a:rPr>
              <a:t>✓ Mobile-first design — looks perfect on phones (where 90% of your customers are)</a:t>
            </a:r>
          </a:p>
          <a:p>
            <a:pPr>
              <a:spcAft>
                <a:spcPts val="1600"/>
              </a:spcAft>
            </a:pPr>
            <a:r>
              <a:rPr sz="2200">
                <a:solidFill>
                  <a:srgbClr val="2C2C2C"/>
                </a:solidFill>
                <a:latin typeface="Calibri"/>
              </a:rPr>
              <a:t>✓ Google Map integration — directions to both branches, one click</a:t>
            </a:r>
          </a:p>
          <a:p>
            <a:pPr>
              <a:spcAft>
                <a:spcPts val="1600"/>
              </a:spcAft>
            </a:pPr>
            <a:r>
              <a:rPr sz="2200">
                <a:solidFill>
                  <a:srgbClr val="2C2C2C"/>
                </a:solidFill>
                <a:latin typeface="Calibri"/>
              </a:rPr>
              <a:t>✓ 1 year free hosting + domain setup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 bIns="91440" tIns="91440">
            <a:spAutoFit/>
          </a:bodyPr>
          <a:lstStyle/>
          <a:p>
            <a:pPr algn="l"/>
            <a:r>
              <a:rPr sz="4000" b="1">
                <a:solidFill>
                  <a:srgbClr val="1C3144"/>
                </a:solidFill>
                <a:latin typeface="Georgia"/>
              </a:rPr>
              <a:t>Investment Options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25880"/>
            <a:ext cx="2743200" cy="5486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3108960" cy="4572000"/>
          </a:xfrm>
          <a:prstGeom prst="rect">
            <a:avLst/>
          </a:prstGeom>
          <a:solidFill>
            <a:srgbClr val="FFFFFF"/>
          </a:solidFill>
          <a:ln w="38100">
            <a:solidFill>
              <a:srgbClr val="1C31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2926080" cy="457200"/>
          </a:xfrm>
          <a:prstGeom prst="rect">
            <a:avLst/>
          </a:prstGeom>
          <a:noFill/>
        </p:spPr>
        <p:txBody>
          <a:bodyPr wrap="square" bIns="91440" tIns="91440">
            <a:spAutoFit/>
          </a:bodyPr>
          <a:lstStyle/>
          <a:p>
            <a:pPr algn="l"/>
            <a:r>
              <a:rPr sz="1600" b="1">
                <a:solidFill>
                  <a:srgbClr val="1C3144"/>
                </a:solidFill>
                <a:latin typeface="Georgia"/>
              </a:rPr>
              <a:t>Tier 1: Starter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331720"/>
            <a:ext cx="2926080" cy="548640"/>
          </a:xfrm>
          <a:prstGeom prst="rect">
            <a:avLst/>
          </a:prstGeom>
          <a:noFill/>
        </p:spPr>
        <p:txBody>
          <a:bodyPr wrap="square" bIns="91440" tIns="91440">
            <a:spAutoFit/>
          </a:bodyPr>
          <a:lstStyle/>
          <a:p>
            <a:pPr algn="l"/>
            <a:r>
              <a:rPr sz="1800" b="1">
                <a:solidFill>
                  <a:srgbClr val="1C3144"/>
                </a:solidFill>
                <a:latin typeface="Calibri"/>
              </a:rPr>
              <a:t>₹7,000–10,000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017520"/>
            <a:ext cx="29260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2C2C2C"/>
                </a:solidFill>
                <a:latin typeface="Calibri"/>
              </a:rPr>
              <a:t>• Website + 1-year hosting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C2C2C"/>
                </a:solidFill>
                <a:latin typeface="Calibri"/>
              </a:rPr>
              <a:t>• Google Business optimization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C2C2C"/>
                </a:solidFill>
                <a:latin typeface="Calibri"/>
              </a:rPr>
              <a:t>• WhatsApp order setup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C2C2C"/>
                </a:solidFill>
                <a:latin typeface="Calibri"/>
              </a:rPr>
              <a:t>• Best for: DIY social media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40" y="1645920"/>
            <a:ext cx="3108960" cy="4572000"/>
          </a:xfrm>
          <a:prstGeom prst="rect">
            <a:avLst/>
          </a:prstGeom>
          <a:solidFill>
            <a:srgbClr val="F5F3F0"/>
          </a:solidFill>
          <a:ln w="381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43400" y="1828800"/>
            <a:ext cx="2926080" cy="457200"/>
          </a:xfrm>
          <a:prstGeom prst="rect">
            <a:avLst/>
          </a:prstGeom>
          <a:noFill/>
        </p:spPr>
        <p:txBody>
          <a:bodyPr wrap="square" bIns="91440" tIns="91440">
            <a:spAutoFit/>
          </a:bodyPr>
          <a:lstStyle/>
          <a:p>
            <a:pPr algn="l"/>
            <a:r>
              <a:rPr sz="1600" b="1">
                <a:solidFill>
                  <a:srgbClr val="E67E22"/>
                </a:solidFill>
                <a:latin typeface="Georgia"/>
              </a:rPr>
              <a:t>Tier 2: Recommended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2331720"/>
            <a:ext cx="2926080" cy="548640"/>
          </a:xfrm>
          <a:prstGeom prst="rect">
            <a:avLst/>
          </a:prstGeom>
          <a:noFill/>
        </p:spPr>
        <p:txBody>
          <a:bodyPr wrap="square" bIns="91440" tIns="91440">
            <a:spAutoFit/>
          </a:bodyPr>
          <a:lstStyle/>
          <a:p>
            <a:pPr algn="l"/>
            <a:r>
              <a:rPr sz="1800" b="1">
                <a:solidFill>
                  <a:srgbClr val="E67E22"/>
                </a:solidFill>
                <a:latin typeface="Calibri"/>
              </a:rPr>
              <a:t>₹15,000–18,000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3017520"/>
            <a:ext cx="29260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2C2C2C"/>
                </a:solidFill>
                <a:latin typeface="Calibri"/>
              </a:rPr>
              <a:t>• Everything in Tier 1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C2C2C"/>
                </a:solidFill>
                <a:latin typeface="Calibri"/>
              </a:rPr>
              <a:t>• Professional Instagram setup (10 posts)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C2C2C"/>
                </a:solidFill>
                <a:latin typeface="Calibri"/>
              </a:rPr>
              <a:t>• Photography guidance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C2C2C"/>
                </a:solidFill>
                <a:latin typeface="Calibri"/>
              </a:rPr>
              <a:t>• Monthly reporting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C2C2C"/>
                </a:solidFill>
                <a:latin typeface="Calibri"/>
              </a:rPr>
              <a:t>• Best for: New store launch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80960" y="1645920"/>
            <a:ext cx="3108960" cy="4572000"/>
          </a:xfrm>
          <a:prstGeom prst="rect">
            <a:avLst/>
          </a:prstGeom>
          <a:solidFill>
            <a:srgbClr val="FFFFFF"/>
          </a:solidFill>
          <a:ln w="381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18120" y="1828800"/>
            <a:ext cx="2926080" cy="457200"/>
          </a:xfrm>
          <a:prstGeom prst="rect">
            <a:avLst/>
          </a:prstGeom>
          <a:noFill/>
        </p:spPr>
        <p:txBody>
          <a:bodyPr wrap="square" bIns="91440" tIns="91440">
            <a:spAutoFit/>
          </a:bodyPr>
          <a:lstStyle/>
          <a:p>
            <a:pPr algn="l"/>
            <a:r>
              <a:rPr sz="1600" b="1">
                <a:solidFill>
                  <a:srgbClr val="F39C12"/>
                </a:solidFill>
                <a:latin typeface="Georgia"/>
              </a:rPr>
              <a:t>Tier 3: Full Service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8120" y="2331720"/>
            <a:ext cx="2926080" cy="548640"/>
          </a:xfrm>
          <a:prstGeom prst="rect">
            <a:avLst/>
          </a:prstGeom>
          <a:noFill/>
        </p:spPr>
        <p:txBody>
          <a:bodyPr wrap="square" bIns="91440" tIns="91440">
            <a:spAutoFit/>
          </a:bodyPr>
          <a:lstStyle/>
          <a:p>
            <a:pPr algn="l"/>
            <a:r>
              <a:rPr sz="1800" b="1">
                <a:solidFill>
                  <a:srgbClr val="F39C12"/>
                </a:solidFill>
                <a:latin typeface="Calibri"/>
              </a:rPr>
              <a:t>₹25,000–35,000
+ ₹10,000/month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8120" y="3017520"/>
            <a:ext cx="29260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2C2C2C"/>
                </a:solidFill>
                <a:latin typeface="Calibri"/>
              </a:rPr>
              <a:t>• Everything in Tier 2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C2C2C"/>
                </a:solidFill>
                <a:latin typeface="Calibri"/>
              </a:rPr>
              <a:t>• Weekly Instagram posts (3x/week)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C2C2C"/>
                </a:solidFill>
                <a:latin typeface="Calibri"/>
              </a:rPr>
              <a:t>• Monthly strategy calls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C2C2C"/>
                </a:solidFill>
                <a:latin typeface="Calibri"/>
              </a:rPr>
              <a:t>• Paid ads management (₹5-10k)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C2C2C"/>
                </a:solidFill>
                <a:latin typeface="Calibri"/>
              </a:rPr>
              <a:t>• Community management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C2C2C"/>
                </a:solidFill>
                <a:latin typeface="Calibri"/>
              </a:rPr>
              <a:t>• Best for: Growth &amp; catering focus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 bIns="91440" tIns="91440">
            <a:spAutoFit/>
          </a:bodyPr>
          <a:lstStyle/>
          <a:p>
            <a:pPr algn="l"/>
            <a:r>
              <a:rPr sz="4000" b="1">
                <a:solidFill>
                  <a:srgbClr val="1C3144"/>
                </a:solidFill>
                <a:latin typeface="Georgia"/>
              </a:rPr>
              <a:t>Instagram Growth = Real Revenue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25880"/>
            <a:ext cx="2926080" cy="5486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200">
                <a:solidFill>
                  <a:srgbClr val="2C2C2C"/>
                </a:solidFill>
                <a:latin typeface="Calibri"/>
              </a:rPr>
              <a:t>📸 One momo photo post → 5–8 WhatsApp orders (₹1,000–1,600 per post)</a:t>
            </a:r>
          </a:p>
          <a:p>
            <a:pPr>
              <a:spcAft>
                <a:spcPts val="1600"/>
              </a:spcAft>
            </a:pPr>
            <a:r>
              <a:rPr sz="2200">
                <a:solidFill>
                  <a:srgbClr val="2C2C2C"/>
                </a:solidFill>
                <a:latin typeface="Calibri"/>
              </a:rPr>
              <a:t>👨‍🍳 Behind-the-scenes (desi ghee, fresh prep) → trust &amp; first-time customers</a:t>
            </a:r>
          </a:p>
          <a:p>
            <a:pPr>
              <a:spcAft>
                <a:spcPts val="1600"/>
              </a:spcAft>
            </a:pPr>
            <a:r>
              <a:rPr sz="2200">
                <a:solidFill>
                  <a:srgbClr val="2C2C2C"/>
                </a:solidFill>
                <a:latin typeface="Calibri"/>
              </a:rPr>
              <a:t>🎉 Catering/event post → 1–2 enquiries per month (₹15k–50k per event)</a:t>
            </a:r>
          </a:p>
          <a:p>
            <a:pPr>
              <a:spcAft>
                <a:spcPts val="1600"/>
              </a:spcAft>
            </a:pPr>
            <a:r>
              <a:rPr sz="2200">
                <a:solidFill>
                  <a:srgbClr val="2C2C2C"/>
                </a:solidFill>
                <a:latin typeface="Calibri"/>
              </a:rPr>
              <a:t>📊 30-day projection: 12 posts × ₹1,500 avg = ₹18,000 direct revenue (already covers the website cost)</a:t>
            </a:r>
          </a:p>
          <a:p>
            <a:pPr>
              <a:spcAft>
                <a:spcPts val="1600"/>
              </a:spcAft>
            </a:pPr>
            <a:r>
              <a:rPr sz="2200">
                <a:solidFill>
                  <a:srgbClr val="2C2C2C"/>
                </a:solidFill>
                <a:latin typeface="Calibri"/>
              </a:rPr>
              <a:t>🔄 Ongoing: 3 posts/week builds followers → repeat customers → word-of-mouth grows exponentially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 bIns="91440" tIns="91440">
            <a:spAutoFit/>
          </a:bodyPr>
          <a:lstStyle/>
          <a:p>
            <a:pPr algn="l"/>
            <a:r>
              <a:rPr sz="4000" b="1">
                <a:solidFill>
                  <a:srgbClr val="1C3144"/>
                </a:solidFill>
                <a:latin typeface="Georgia"/>
              </a:rPr>
              <a:t>Let's Launch Together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25880"/>
            <a:ext cx="2926080" cy="5486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5303520" cy="4389120"/>
          </a:xfrm>
          <a:prstGeom prst="rect">
            <a:avLst/>
          </a:prstGeom>
          <a:noFill/>
        </p:spPr>
        <p:txBody>
          <a:bodyPr wrap="square" bIns="91440" tIns="91440">
            <a:spAutoFit/>
          </a:bodyPr>
          <a:lstStyle/>
          <a:p>
            <a:pPr algn="l"/>
            <a:r>
              <a:rPr sz="1600" b="0">
                <a:solidFill>
                  <a:srgbClr val="2C2C2C"/>
                </a:solidFill>
                <a:latin typeface="Calibri"/>
              </a:rPr>
              <a:t>2-Month Trial (Free Instagram Management)
✓ You get the website + I run Instagram
✓ 3 posts/week (momos, behind-the-scenes, catering, events)
✓ Professional photos using your existing images
✓ Full month-1 + month-2 results tracking
At day 60, we review together:
• New followers
• WhatsApp orders from Instagram
• Estimated revenue from posts
• Then decide: keep going, scale up, or own it yourself
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554480"/>
            <a:ext cx="5029200" cy="4389120"/>
          </a:xfrm>
          <a:prstGeom prst="rect">
            <a:avLst/>
          </a:prstGeom>
          <a:noFill/>
        </p:spPr>
        <p:txBody>
          <a:bodyPr wrap="square" bIns="91440" tIns="91440">
            <a:spAutoFit/>
          </a:bodyPr>
          <a:lstStyle/>
          <a:p>
            <a:pPr algn="l"/>
            <a:r>
              <a:rPr sz="1600" b="0">
                <a:solidFill>
                  <a:srgbClr val="2C2C2C"/>
                </a:solidFill>
                <a:latin typeface="Calibri"/>
              </a:rPr>
              <a:t>Why Now?
Grand opening of Karan Bagh = Perfect timing
• Launch website + Instagram together
• New store gets announced to 1000+ people
• First-time diners from social media
• Momentum for catering bookings
Next step:
→ 30-minute call this week
→ Review the live website demo
→ Answer any questions
→ Set launch date
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